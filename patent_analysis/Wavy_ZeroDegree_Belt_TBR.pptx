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18288"/>
          </a:xfrm>
          <a:prstGeom prst="rect">
            <a:avLst/>
          </a:prstGeom>
          <a:solidFill>
            <a:srgbClr val="355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Zero-Degree Belt Technology for TBR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400" b="0" i="0">
                <a:solidFill>
                  <a:srgbClr val="9FD6E6"/>
                </a:solidFill>
                <a:latin typeface="Calibri"/>
              </a:rPr>
              <a:t>Conventional  vs  Wavy (Undulating) 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2A9D8F"/>
                </a:solidFill>
                <a:latin typeface="Calibri"/>
              </a:rPr>
              <a:t>TECHNOLOGY  ·  PROCESS  ·  MATHEMATICS  ·  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CFDDE8"/>
                </a:solidFill>
                <a:latin typeface="Calibri"/>
              </a:rPr>
              <a:t>Scope:  Truck &amp; Bus Radial (all-steel)  ·  process &amp; green-to-cure focus  ·  patent basis 2015–2026 + foundational art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CFDDE8"/>
                </a:solidFill>
                <a:latin typeface="Calibri"/>
              </a:rPr>
              <a:t>Covers:  how waviness is induced  ·  governing mathematics  ·  influencing parameters (A/λ, winding tension, ZD layout, cure-lift)  ·  TBR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Calibri"/>
              </a:rPr>
              <a:t>Prepared for internal R&amp;D review  ·  June 2026  ·  Confidential — engineering working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Executive Summary — the core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0" i="1">
                <a:solidFill>
                  <a:srgbClr val="BFD6E6"/>
                </a:solidFill>
                <a:latin typeface="Calibri"/>
              </a:rPr>
              <a:t>Why a wavy 0° belt is a genuine lever, not a gimmick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69037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B5C"/>
                </a:solidFill>
                <a:latin typeface="Calibri"/>
              </a:rPr>
              <a:t>Problem.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A conventional 0° steel cord is essentially inextensible (working strain to 'taut' ≈ 0.2%). It fights the green→cure crown expansion (typ. 0.5–3%), so a true rigid 0° steel belt is hard to build flat / single-stage.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B5C"/>
                </a:solidFill>
                <a:latin typeface="Calibri"/>
              </a:rPr>
              <a:t>Mechanism.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A wavy cord stores length in a wave. It straightens before going taut, giving 1–3% apparent elongation with no strain in the steel — soft during shaping, stiff in service. This is a 'step (bilinear) modulus'.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B5C"/>
                </a:solidFill>
                <a:latin typeface="Calibri"/>
              </a:rPr>
              <a:t>Governing law.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Available elongation ε ≈ π²(A/λ)². The industry's wavy A/λ = 1.5–6% window is exactly what covers TBR cure-lift and restores service rigidity — the ranges fall out of the geometry.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F3B5C"/>
                </a:solidFill>
                <a:latin typeface="Calibri"/>
              </a:rPr>
              <a:t>Three constructions compared. </a:t>
            </a:r>
            <a:r>
              <a:rPr sz="1400" b="0" i="0">
                <a:solidFill>
                  <a:srgbClr val="222B33"/>
                </a:solidFill>
                <a:latin typeface="Calibri"/>
              </a:rPr>
              <a:t>(1) Conventional straight 0°, (2) Wavy/undulating 0°, (3) High-elongation (HE) steel cord — a material route to the same soft→stiff behaviour.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1143000"/>
            <a:ext cx="4251960" cy="4983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14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143000"/>
            <a:ext cx="4251960" cy="384048"/>
          </a:xfrm>
          <a:prstGeom prst="rect">
            <a:avLst/>
          </a:prstGeom>
          <a:solidFill>
            <a:srgbClr val="C14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7" y="1161288"/>
            <a:ext cx="4069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BOTTOM LINE FOR TBR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1816" y="1600200"/>
            <a:ext cx="3995928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 i="0">
                <a:solidFill>
                  <a:srgbClr val="C1492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Target A/λ ≈ 3–5%  →  ε ≈ 0.9–2.4%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 i="0">
                <a:solidFill>
                  <a:srgbClr val="C1492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Apply via servo OSCILLATING head, or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 i="0">
                <a:solidFill>
                  <a:srgbClr val="C1492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use HE steel cord (drop-in, low gauge)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 i="0">
                <a:solidFill>
                  <a:srgbClr val="C1492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Closed-loop WINDING TENSION control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 i="0">
                <a:solidFill>
                  <a:srgbClr val="C1492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Deploy as 0° SHOULDER/EDGE cover to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 i="0">
                <a:solidFill>
                  <a:srgbClr val="C1492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cut belt-edge shear → protects bead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 i="0">
                <a:solidFill>
                  <a:srgbClr val="C1492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OWN the white space: amplitude-GRADED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 i="0">
                <a:solidFill>
                  <a:srgbClr val="C1492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0° (more wave at shoulder, less centre)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74536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850" b="0" i="1">
                <a:solidFill>
                  <a:srgbClr val="5B6B7B"/>
                </a:solidFill>
                <a:latin typeface="Calibri"/>
              </a:rPr>
              <a:t>Math verified numerically (arc-length integral); A/λ ranges &amp; elongation specs from cited patents — see slides 4–6 and references (slide 10).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Where the 0° belt sits — and how it reaches the bead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0" i="1">
                <a:solidFill>
                  <a:srgbClr val="BFD6E6"/>
                </a:solidFill>
                <a:latin typeface="Calibri"/>
              </a:rPr>
              <a:t>TBR all-steel package; 0° as edge cover or full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7" name="Picture 6" descr="wavyZD_6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188720"/>
            <a:ext cx="7955279" cy="36619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188720"/>
            <a:ext cx="35204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F3B5C"/>
                </a:solidFill>
                <a:latin typeface="Calibri"/>
              </a:rPr>
              <a:t>Package.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B1 transition, B2/B3 working belts (~18–22°), B4 protective, plus the 0° circumferential layer.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F3B5C"/>
                </a:solidFill>
                <a:latin typeface="Calibri"/>
              </a:rPr>
              <a:t>Hoop role.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The 0° belt restrains crown radial growth (centrifugal + inflation), keeping the toroid stable at speed.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F3B5C"/>
                </a:solidFill>
                <a:latin typeface="Calibri"/>
              </a:rPr>
              <a:t>The catch.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A stiff straight 0° creates an abrupt stiffness step at its edge → belt-edge / shoulder shear, which is routed down the carcass to the turn-up end (the TBR durability-limiting site).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F3B5C"/>
                </a:solidFill>
                <a:latin typeface="Calibri"/>
              </a:rPr>
              <a:t>Wavy fix. </a:t>
            </a:r>
            <a:r>
              <a:rPr sz="1250" b="0" i="0">
                <a:solidFill>
                  <a:srgbClr val="222B33"/>
                </a:solidFill>
                <a:latin typeface="Calibri"/>
              </a:rPr>
              <a:t>A compliant wavy edge softens that step → lower shoulder shear and lower cure-lift stress, without over-stiffening the crown centre (avoids uneven wear).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74536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850" b="0" i="1">
                <a:solidFill>
                  <a:srgbClr val="5B6B7B"/>
                </a:solidFill>
                <a:latin typeface="Calibri"/>
              </a:rPr>
              <a:t>Belt-cord circumferential elongation spec 1.0–2.5% @ 100–300 N; 17–30 ends/50 mm (crown-reinforcement disclosures). Layout schematic — indicative.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mathematics of 'free stretch'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0" i="1">
                <a:solidFill>
                  <a:srgbClr val="BFD6E6"/>
                </a:solidFill>
                <a:latin typeface="Calibri"/>
              </a:rPr>
              <a:t>How much apparent elongation a wave provides vs its A/λ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7" name="Picture 6" descr="wavyZD_1_math_elon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097280"/>
            <a:ext cx="7772400" cy="47830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1115568"/>
            <a:ext cx="361188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15568"/>
            <a:ext cx="3611880" cy="38404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133856"/>
            <a:ext cx="3429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GOVERNING FORMULAS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572768"/>
            <a:ext cx="3355848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3776" y="1591056"/>
            <a:ext cx="3383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50" b="1" i="0">
                <a:solidFill>
                  <a:srgbClr val="222B33"/>
                </a:solidFill>
                <a:latin typeface="Calibri"/>
              </a:rPr>
              <a:t>Path:  y(x) = A·sin(2πx/λ)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200" b="0" i="0">
                <a:solidFill>
                  <a:srgbClr val="222B33"/>
                </a:solidFill>
                <a:latin typeface="Calibri"/>
              </a:rPr>
              <a:t>Exact:  ε = (1/λ)∫₀^λ √(1+(y′)²)dx − 1</a:t>
            </a:r>
          </a:p>
          <a:p>
            <a:pPr algn="l">
              <a:lnSpc>
                <a:spcPct val="104000"/>
              </a:lnSpc>
              <a:spcAft>
                <a:spcPts val="600"/>
              </a:spcAft>
            </a:pPr>
            <a:r>
              <a:rPr sz="1300" b="1" i="0">
                <a:solidFill>
                  <a:srgbClr val="C1492B"/>
                </a:solidFill>
                <a:latin typeface="Calibri"/>
              </a:rPr>
              <a:t>Small-amplitude:  ε ≈ π²(A/λ)²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63240"/>
            <a:ext cx="3611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1F3B5C"/>
                </a:solidFill>
                <a:latin typeface="Calibri"/>
              </a:rPr>
              <a:t>Idea.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The wave stores extra arc-length. As the tyre grows, the wave flattens and the cord 'elongates' geometrically — the steel never strains.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1F3B5C"/>
                </a:solidFill>
                <a:latin typeface="Calibri"/>
              </a:rPr>
              <a:t>Verified.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A/λ = 1.5% → 0.22% ; 4% → 1.56% ; 6% → 3.46% (numeric).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1F3B5C"/>
                </a:solidFill>
                <a:latin typeface="Calibri"/>
              </a:rPr>
              <a:t>Design fit.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The 1.5–6% band brackets TBR cure-lift (0.5–3%) and the 1.0–2.5% working-elongation spec.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74536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850" b="0" i="1">
                <a:solidFill>
                  <a:srgbClr val="5B6B7B"/>
                </a:solidFill>
                <a:latin typeface="Calibri"/>
              </a:rPr>
              <a:t>Ranges: corrugation A/λ 2–15% [US6659147]; wavy/zig-zag A/λ 0.015–0.06 [US8079392, US5054532]. Approximation from arc-length of a sinusoid (standard result).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'step / bilinear modulus' — buildable AND durable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0" i="1">
                <a:solidFill>
                  <a:srgbClr val="BFD6E6"/>
                </a:solidFill>
                <a:latin typeface="Calibri"/>
              </a:rPr>
              <a:t>Soft through the lift band, stiff in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7" name="Picture 6" descr="wavyZD_2_load_elon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097280"/>
            <a:ext cx="7772400" cy="4783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143000"/>
            <a:ext cx="36118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3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30" b="1" i="0">
                <a:solidFill>
                  <a:srgbClr val="1F3B5C"/>
                </a:solidFill>
                <a:latin typeface="Calibri"/>
              </a:rPr>
              <a:t>Conventional. </a:t>
            </a:r>
            <a:r>
              <a:rPr sz="1230" b="0" i="0">
                <a:solidFill>
                  <a:srgbClr val="222B33"/>
                </a:solidFill>
                <a:latin typeface="Calibri"/>
              </a:rPr>
              <a:t>Stiff and linear from ε = 0 → very high cord force during shaping; cannot be built flat without special process.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3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30" b="1" i="0">
                <a:solidFill>
                  <a:srgbClr val="1F3B5C"/>
                </a:solidFill>
                <a:latin typeface="Calibri"/>
              </a:rPr>
              <a:t>Wavy. </a:t>
            </a:r>
            <a:r>
              <a:rPr sz="1230" b="0" i="0">
                <a:solidFill>
                  <a:srgbClr val="222B33"/>
                </a:solidFill>
                <a:latin typeface="Calibri"/>
              </a:rPr>
              <a:t>Bilinear — low modulus until the 'knee' at ε_geo (wave straightened), then full steel modulus.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3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30" b="1" i="0">
                <a:solidFill>
                  <a:srgbClr val="1F3B5C"/>
                </a:solidFill>
                <a:latin typeface="Calibri"/>
              </a:rPr>
              <a:t>HE cord. </a:t>
            </a:r>
            <a:r>
              <a:rPr sz="1230" b="0" i="0">
                <a:solidFill>
                  <a:srgbClr val="222B33"/>
                </a:solidFill>
                <a:latin typeface="Calibri"/>
              </a:rPr>
              <a:t>Smooth concave low→high modulus from structural elongation in the cord itself.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3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30" b="1" i="0">
                <a:solidFill>
                  <a:srgbClr val="1F3B5C"/>
                </a:solidFill>
                <a:latin typeface="Calibri"/>
              </a:rPr>
              <a:t>Design lever. </a:t>
            </a:r>
            <a:r>
              <a:rPr sz="1230" b="0" i="0">
                <a:solidFill>
                  <a:srgbClr val="222B33"/>
                </a:solidFill>
                <a:latin typeface="Calibri"/>
              </a:rPr>
              <a:t>Place the knee just past the cure-lift band → service rigidity engages early with no build penalty; lowers belt-edge reaction and controls high-speed standing waves.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74536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850" b="0" i="1">
                <a:solidFill>
                  <a:srgbClr val="5B6B7B"/>
                </a:solidFill>
                <a:latin typeface="Calibri"/>
              </a:rPr>
              <a:t>Soft-stretch / single-stage flat build [US3956546, US3900062, US4050973]; HE steel cord ε_break ≥ 5% [US2016/0152082]; standing-wave cord stress vs speed [Sun et al., Shock &amp; Vibration 2019].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Process — four ways to induce the waviness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0" i="1">
                <a:solidFill>
                  <a:srgbClr val="BFD6E6"/>
                </a:solidFill>
                <a:latin typeface="Calibri"/>
              </a:rPr>
              <a:t>…and the parameters each route lets you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7" name="Picture 6" descr="wavyZD_3_process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332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915400" y="1115568"/>
            <a:ext cx="29260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15400" y="1115568"/>
            <a:ext cx="2926080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5128" y="113385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ROUTE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416" y="1572768"/>
            <a:ext cx="2670048" cy="4617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1 Pre-crimp: A=roll depth, λ=tooth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   pitch (3–15 mm; amp 0.1–5 mm)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2 Oscillating head: A=stroke,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   λ=freq÷feed — best control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3 Soft-stretch tape: 'on-end'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   undulations → single-stage build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4 HE cord: structural elong.,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   drop-in, lowest gauge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Shared: WINDING TENSION ↑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→ uniformity ↑ (−6% LFV pk-pk,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−4% RFV 1st harmonic) but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050" b="1" i="0">
                <a:solidFill>
                  <a:srgbClr val="2A9D8F"/>
                </a:solidFill>
                <a:latin typeface="Calibri"/>
              </a:rPr>
              <a:t>• </a:t>
            </a:r>
            <a:r>
              <a:rPr sz="1050" b="0" i="0">
                <a:solidFill>
                  <a:srgbClr val="222B33"/>
                </a:solidFill>
                <a:latin typeface="Calibri"/>
              </a:rPr>
              <a:t>available ε ↓ &amp; residual tension 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74536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850" b="0" i="1">
                <a:solidFill>
                  <a:srgbClr val="5B6B7B"/>
                </a:solidFill>
                <a:latin typeface="Calibri"/>
              </a:rPr>
              <a:t>[US8720175] crimped flat-wire core · [US3956546/US3900062] undulated tape · [US2016/0152082] HE cord · winding-tension uniformity: Procedia Manufacturing (cap-ply cord tension study).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Influencing parameters — favourability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0" i="1">
                <a:solidFill>
                  <a:srgbClr val="BFD6E6"/>
                </a:solidFill>
                <a:latin typeface="Calibri"/>
              </a:rPr>
              <a:t>Green = favourable; every column framed so 'more = better'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7" name="Picture 6" descr="wavyZD_4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955279" cy="42448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41080" y="1143000"/>
            <a:ext cx="32004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8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180" b="1" i="0">
                <a:solidFill>
                  <a:srgbClr val="1F3B5C"/>
                </a:solidFill>
                <a:latin typeface="Calibri"/>
              </a:rPr>
              <a:t>↑ A/λ. </a:t>
            </a:r>
            <a:r>
              <a:rPr sz="1180" b="0" i="0">
                <a:solidFill>
                  <a:srgbClr val="222B33"/>
                </a:solidFill>
                <a:latin typeface="Calibri"/>
              </a:rPr>
              <a:t>Big cure-lift headroom, better edge-shear relief — but gauge/weight &amp; uniformity penalty.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8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180" b="1" i="0">
                <a:solidFill>
                  <a:srgbClr val="1F3B5C"/>
                </a:solidFill>
                <a:latin typeface="Calibri"/>
              </a:rPr>
              <a:t>↑ Winding tension. </a:t>
            </a:r>
            <a:r>
              <a:rPr sz="1180" b="0" i="0">
                <a:solidFill>
                  <a:srgbClr val="222B33"/>
                </a:solidFill>
                <a:latin typeface="Calibri"/>
              </a:rPr>
              <a:t>Uniformity ↑↑, but pulls the wave out (ε ↓) and raises residual hoop tension.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8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180" b="1" i="0">
                <a:solidFill>
                  <a:srgbClr val="1F3B5C"/>
                </a:solidFill>
                <a:latin typeface="Calibri"/>
              </a:rPr>
              <a:t>HE-cord swap. </a:t>
            </a:r>
            <a:r>
              <a:rPr sz="1180" b="0" i="0">
                <a:solidFill>
                  <a:srgbClr val="222B33"/>
                </a:solidFill>
                <a:latin typeface="Calibri"/>
              </a:rPr>
              <a:t>Broadly favourable — uniformity &amp; lightness gains, simpler line.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8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180" b="1" i="0">
                <a:solidFill>
                  <a:srgbClr val="1F3B5C"/>
                </a:solidFill>
                <a:latin typeface="Calibri"/>
              </a:rPr>
              <a:t>Edge-cover only. </a:t>
            </a:r>
            <a:r>
              <a:rPr sz="1180" b="0" i="0">
                <a:solidFill>
                  <a:srgbClr val="222B33"/>
                </a:solidFill>
                <a:latin typeface="Calibri"/>
              </a:rPr>
              <a:t>Targets belt-edge shear with lightness; intentionally lowers centre rigidity (good for even wear).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74536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850" b="0" i="1">
                <a:solidFill>
                  <a:srgbClr val="5B6B7B"/>
                </a:solidFill>
                <a:latin typeface="Calibri"/>
              </a:rPr>
              <a:t>Cells = net favourability (engineering judgement, indicative). Uniformity direction from cap-ply winding-tension study (Procedia Manufacturing).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Head-to-head — conventional vs wavy vs HE 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0" i="1">
                <a:solidFill>
                  <a:srgbClr val="BFD6E6"/>
                </a:solidFill>
                <a:latin typeface="Calibri"/>
              </a:rPr>
              <a:t>Choosing the right construction for the duty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7" name="Picture 6" descr="wavyZD_5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97280"/>
            <a:ext cx="4846320" cy="52769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188720"/>
            <a:ext cx="37947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3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30" b="1" i="0">
                <a:solidFill>
                  <a:srgbClr val="1F3B5C"/>
                </a:solidFill>
                <a:latin typeface="Calibri"/>
              </a:rPr>
              <a:t>Conventional straight. </a:t>
            </a:r>
            <a:r>
              <a:rPr sz="1230" b="0" i="0">
                <a:solidFill>
                  <a:srgbClr val="222B33"/>
                </a:solidFill>
                <a:latin typeface="Calibri"/>
              </a:rPr>
              <a:t>Best on simplicity, cost, uniformity, rolling resistance. Weak on cure-lift accommodation and single-stage build.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3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30" b="1" i="0">
                <a:solidFill>
                  <a:srgbClr val="1F3B5C"/>
                </a:solidFill>
                <a:latin typeface="Calibri"/>
              </a:rPr>
              <a:t>Wavy. </a:t>
            </a:r>
            <a:r>
              <a:rPr sz="1230" b="0" i="0">
                <a:solidFill>
                  <a:srgbClr val="222B33"/>
                </a:solidFill>
                <a:latin typeface="Calibri"/>
              </a:rPr>
              <a:t>Wins cure-lift, flat build, belt-edge/shoulder endurance. Costs gauge/weight, some RR &amp; uniformity, process complexity.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3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30" b="1" i="0">
                <a:solidFill>
                  <a:srgbClr val="1F3B5C"/>
                </a:solidFill>
                <a:latin typeface="Calibri"/>
              </a:rPr>
              <a:t>HE cord. </a:t>
            </a:r>
            <a:r>
              <a:rPr sz="1230" b="0" i="0">
                <a:solidFill>
                  <a:srgbClr val="222B33"/>
                </a:solidFill>
                <a:latin typeface="Calibri"/>
              </a:rPr>
              <a:t>The balanced middle — most of the wavy benefit with better uniformity and lower gauge, at a special-cord cost.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3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30" b="1" i="0">
                <a:solidFill>
                  <a:srgbClr val="1F3B5C"/>
                </a:solidFill>
                <a:latin typeface="Calibri"/>
              </a:rPr>
              <a:t>Pick by duty. </a:t>
            </a:r>
            <a:r>
              <a:rPr sz="1230" b="0" i="0">
                <a:solidFill>
                  <a:srgbClr val="222B33"/>
                </a:solidFill>
                <a:latin typeface="Calibri"/>
              </a:rPr>
              <a:t>Long-haul/retread casing → wavy or HE edge cover; high-speed coach → consider full 0°; cost-driven regional → straight + process tweak.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74536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850" b="0" i="1">
                <a:solidFill>
                  <a:srgbClr val="5B6B7B"/>
                </a:solidFill>
                <a:latin typeface="Calibri"/>
              </a:rPr>
              <a:t>Radar scores (1–5, higher = better) are indicative engineering judgement synthesised from the cited art — not measured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Recommendations &amp; IP white space — TBR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0" i="1">
                <a:solidFill>
                  <a:srgbClr val="BFD6E6"/>
                </a:solidFill>
                <a:latin typeface="Calibri"/>
              </a:rPr>
              <a:t>A differentiation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7" name="Picture 6" descr="wavyZD_7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078992"/>
            <a:ext cx="6720840" cy="43286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143000"/>
            <a:ext cx="36118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1F3B5C"/>
                </a:solidFill>
                <a:latin typeface="Calibri"/>
              </a:rPr>
              <a:t>Window.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A/λ ≈ 3–5%; ends 17–30/50 mm; knee just past cure-lift.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1F3B5C"/>
                </a:solidFill>
                <a:latin typeface="Calibri"/>
              </a:rPr>
              <a:t>Process.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Servo-oscillated application or HE cord; closed-loop tension; consider hybrid (mild wave + HE).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1F3B5C"/>
                </a:solidFill>
                <a:latin typeface="Calibri"/>
              </a:rPr>
              <a:t>Placement.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0° shoulder/edge cover first; full cover only for high-speed.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1F3B5C"/>
                </a:solidFill>
                <a:latin typeface="Calibri"/>
              </a:rPr>
              <a:t>Differentiate.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Amplitude-graded 0°; tie to retread / multi-life casing; 6PPD-free coat compound.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532120"/>
            <a:ext cx="114300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5532120"/>
            <a:ext cx="11430000" cy="38404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5550407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5989320"/>
            <a:ext cx="1117396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1" i="0">
                <a:solidFill>
                  <a:srgbClr val="1F3B5C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22B33"/>
                </a:solidFill>
                <a:latin typeface="Calibri"/>
              </a:rPr>
              <a:t>FEA + DoE on a real TBR crown (sweep A/λ, winding tension, edge-cover width) to convert indicative ratings into measured claims  ·  Targeted patentability scan on amplitude-graded / position-varying 0° belts before investment.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74536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850" b="0" i="1">
                <a:solidFill>
                  <a:srgbClr val="5B6B7B"/>
                </a:solidFill>
                <a:latin typeface="Calibri"/>
              </a:rPr>
              <a:t>Design window reconciles cited A/λ ranges with TBR cure-lift &amp; working-elongation specs; white-space claim to be confirmed by formal FTO/patentability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References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0" i="1">
                <a:solidFill>
                  <a:srgbClr val="BFD6E6"/>
                </a:solidFill>
                <a:latin typeface="Calibri"/>
              </a:rPr>
              <a:t>Primary patents, papers, and basis of 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4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7607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1" i="0">
                <a:solidFill>
                  <a:srgbClr val="1F3B5C"/>
                </a:solidFill>
                <a:latin typeface="Calibri"/>
              </a:rPr>
              <a:t>PATENTS  (process &amp; structure)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US3956546 / US3900062 / US4050973 / US3979536 — 'high soft-stretch' undulated belt tape; single-stage flat-band 0° building (Goodyear).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US6659147 — corrugated crown reinforcement; A/λ 2–15% to avoid interfering with shaping during vulcanisation while giving crown rigidity.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US8079392 — alternating straight/wavy reinforcement; A/λ 0.015–0.06.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US5054532 — wavy / zig-zag cord ply (belt–carcass).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US8720175 — crimped flat-wire cord core; pitch 3–15 mm, amplitude 0.1–5 mm.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US2016/0152082 A1 — high-elongation steel cord (ε_break ≥ 5%) for 0° / protective layers.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US7337817 / US5591284 — circumferential spirally-wound &amp; triangulated steel-cord belts (context).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949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1" i="0">
                <a:solidFill>
                  <a:srgbClr val="1F3B5C"/>
                </a:solidFill>
                <a:latin typeface="Calibri"/>
              </a:rPr>
              <a:t>PAPERS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Influence of textile cord tension in cap-ply production — Procedia Manufacturing (ScienceDirect): +unwind tension → −6% lateral-force pk-pk, −4% 1st-harmonic radial force.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Sun et al. (2019) — Experiment &amp; Analysis of Cord Stress on High-Speed Radial Tire Standing Waves, Shock and Vibration: wavelength &amp; cord stress rise with speed.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6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1" i="0">
                <a:solidFill>
                  <a:srgbClr val="1F3B5C"/>
                </a:solidFill>
                <a:latin typeface="Calibri"/>
              </a:rPr>
              <a:t>METHODOLOGY &amp; LIMITS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• ε(A/λ) curve: exact sinusoid arc-length, numerically verified; small-amplitude form ε ≈ π²(A/λ)².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• A/λ ranges, pitch/amplitude, elongation specs: taken from the cited patents.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222B33"/>
                </a:solidFill>
                <a:latin typeface="Calibri"/>
              </a:rPr>
              <a:t>• Bilinear curve shape is schematic but physically grounded (geometry + steel modulus).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0">
                <a:solidFill>
                  <a:srgbClr val="C1492B"/>
                </a:solidFill>
                <a:latin typeface="Calibri"/>
              </a:rPr>
              <a:t>• Radar scores and the parameter favourability map are indicative engineering judgement, not measured data — for direction-setting, not spec-fixing.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 i="1">
                <a:solidFill>
                  <a:srgbClr val="5B6B7B"/>
                </a:solidFill>
                <a:latin typeface="Calibri"/>
              </a:rPr>
              <a:t>• Patent numbers are representative anchors surfaced via Google Patents / Justia / USPTO; verify status &amp; jurisdiction before any FTO 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74536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850" b="0" i="1">
                <a:solidFill>
                  <a:srgbClr val="5B6B7B"/>
                </a:solidFill>
                <a:latin typeface="Calibri"/>
              </a:rPr>
              <a:t>Working document for internal R&amp;D · figures generated from first-principles models + cited ranges · confirm all citations against primary sources before external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