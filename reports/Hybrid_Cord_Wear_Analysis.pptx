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Hybrid Cord Patents — Wear / Mileage Analysis</a:t>
            </a:r>
          </a:p>
          <a:p>
            <a:pPr>
              <a:defRPr sz="2000">
                <a:solidFill>
                  <a:srgbClr val="BFD3E6"/>
                </a:solidFill>
              </a:defRPr>
            </a:pPr>
            <a:r>
              <a:t>Zero-degree belt cords in PCR tires · General hybrid vs. Nylon-Aramid · PatSeer landscape, 1,172 PCR patents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Scope &amp;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Source: PatSeer zero-degree belt landscape — 1,816 families, screened to 1,172 passenger-car-radial (PCR) zero-degree (cap-ply / overlay / jointless-band) patents.</a:t>
            </a:r>
          </a:p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Two hybrid-cord cohorts defined from patent text:</a:t>
            </a:r>
          </a:p>
          <a:p>
            <a:pPr>
              <a:spcAft>
                <a:spcPts val="500"/>
              </a:spcAft>
              <a:defRPr sz="1400">
                <a:solidFill>
                  <a:srgbClr val="555555"/>
                </a:solidFill>
              </a:defRPr>
            </a:pPr>
            <a:r>
              <a:t>   – General hybrid cords — explicit hybrid wording or any two-material cord co-occurrence:  507 patents</a:t>
            </a:r>
          </a:p>
          <a:p>
            <a:pPr>
              <a:spcAft>
                <a:spcPts val="500"/>
              </a:spcAft>
              <a:defRPr sz="1400">
                <a:solidFill>
                  <a:srgbClr val="555555"/>
                </a:solidFill>
              </a:defRPr>
            </a:pPr>
            <a:r>
              <a:t>   – Nylon-Aramid cords (focus) — aramid + nylon hybrid:  318 patents</a:t>
            </a:r>
          </a:p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Wear/mileage detection: lexicon over title, abstract, claims, description and PatSeer AI summaries.</a:t>
            </a:r>
          </a:p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Theme tagging: BENEFIT (wear resistance / mileage / tread life) vs. DEFENSIVE (fixing uneven / irregular wear).</a:t>
            </a:r>
          </a:p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Caveat: keyword + co-occurrence based — high recall; verify borderline cases against claims.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Headline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1F3B57"/>
                </a:solidFill>
              </a:defRPr>
            </a:pPr>
            <a:r>
              <a:t>• General hybrid: 199 of 507 (39%) make a wear/mileage claim.</a:t>
            </a:r>
          </a:p>
          <a:p>
            <a:pPr>
              <a:spcAft>
                <a:spcPts val="500"/>
              </a:spcAft>
              <a:defRPr sz="1700">
                <a:solidFill>
                  <a:srgbClr val="1F3B57"/>
                </a:solidFill>
              </a:defRPr>
            </a:pPr>
            <a:r>
              <a:t>• Nylon-Aramid: 115 of 318 (36%) make a wear/mileage claim.</a:t>
            </a:r>
          </a:p>
          <a:p>
            <a:pPr>
              <a:spcAft>
                <a:spcPts val="500"/>
              </a:spcAft>
              <a:defRPr sz="1700">
                <a:solidFill>
                  <a:srgbClr val="1F3B57"/>
                </a:solidFill>
              </a:defRPr>
            </a:pPr>
            <a:r>
              <a:t>• The zero-degree cord is NOT primarily a mileage technology — its wear effect is indirect (crown stiffness &amp; footprint uniformity).</a:t>
            </a:r>
          </a:p>
          <a:p>
            <a:pPr>
              <a:spcAft>
                <a:spcPts val="500"/>
              </a:spcAft>
              <a:defRPr sz="1700">
                <a:solidFill>
                  <a:srgbClr val="1F3B57"/>
                </a:solidFill>
              </a:defRPr>
            </a:pPr>
            <a:r>
              <a:t>• Key difference: Nylon-Aramid skews more DEFENSIVE — a larger share fixes uneven wear the stiff aramid cap ply introduces, rather than claiming a clean mileage win.</a:t>
            </a:r>
          </a:p>
        </p:txBody>
      </p:sp>
      <p:pic>
        <p:nvPicPr>
          <p:cNvPr id="5" name="Picture 4" descr="deck_coh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63040"/>
            <a:ext cx="5669280" cy="30075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Wear Posture — Claiming a Benefit vs. Fixing Uneven Wear</a:t>
            </a:r>
          </a:p>
        </p:txBody>
      </p:sp>
      <p:pic>
        <p:nvPicPr>
          <p:cNvPr id="4" name="Picture 3" descr="deck_the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680960" cy="32577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21040" y="1371600"/>
            <a:ext cx="3566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Each bar = 100% of that cohort's wear patents, split by what they claim.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Benefit only = a wear/mileage win, no problem mentioned.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Defensive = fixes uneven / irregular wear.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Nylon-Aramid is more defensive: 22 defensive-only vs only 10 'both'.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General hybrid is the reverse: 44 'both' vs 24 defensive-only.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Why: stiff aramid helps footprint uniformity, but its stiffness step can trigger uneven wear that must be engineered out.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Claimed Wear Mechanisms</a:t>
            </a:r>
          </a:p>
        </p:txBody>
      </p:sp>
      <p:pic>
        <p:nvPicPr>
          <p:cNvPr id="4" name="Picture 3" descr="deck_mechanis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943600" cy="32961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544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Wear effects attributed mainly to cord modulus / material and circumferential rigidity / in-plane shear.</a:t>
            </a:r>
          </a:p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Then growth &amp; tread-profile control and footprint / contact-pressure uniformity.</a:t>
            </a:r>
          </a:p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Confirms mechanism is structural (stiffness, footprint) — not tread-compound abrasion chemistry.</a:t>
            </a:r>
          </a:p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Patents may count under several mechanisms.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Who Owns the Nylon-Aramid Wear IP</a:t>
            </a:r>
          </a:p>
        </p:txBody>
      </p:sp>
      <p:pic>
        <p:nvPicPr>
          <p:cNvPr id="4" name="Picture 3" descr="deck_assigne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943600" cy="3059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5544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Sumitomo, Bridgestone, Goodyear lead; Continental, AlliedSignal (Honeywell) and Kumho also active.</a:t>
            </a:r>
          </a:p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Several Continental and Kumho entries are legally ALIVE — current freedom-to-operate relevance.</a:t>
            </a:r>
          </a:p>
          <a:p>
            <a:pPr>
              <a:spcAft>
                <a:spcPts val="500"/>
              </a:spcAft>
              <a:defRPr sz="1600">
                <a:solidFill>
                  <a:srgbClr val="1F3B57"/>
                </a:solidFill>
              </a:defRPr>
            </a:pPr>
            <a:r>
              <a:t>• AlliedSignal patents frame treadwear via in-plane shear modulus of the fiber belt.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Representative Nylon-Aramid Wear Patents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113385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EP4335661A1  —  SUMITOMO RUBBER IND LTD  (2022, ALIVE)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The reinforced belt layer ensures structural integrity and reduces the likelihood of breakage, extending tire life.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DE102016223304B4  —  CONTINENTAL REIFEN DEUTSCH  (2016, ALIVE)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The belt bandage is applied in a single layer, with the side sections arranged to provide a more uniform abrasion and improved rolling resistance compared to the center section.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CN106457914A  —  CONTINENTAL REIFEN DEUTSCH  (2014, ALIVE)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Additionally, conventional belts have limited circumferential stiffness, which can cause uneven wear and reduce tire performance.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KR20130067396A  —  KUMHO TIRE CO INC  (2011, ALIVE)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The cap ply design allows for even distribution of adhesion forces, preventing uneven wear and maintaining tire integrity.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WO2018230265A1  —  BRIDGESTONE CORP  (2017, DEAD)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The present invention addresses the problem of suppressing the occurrence, in a tire having a spiral cord layer formed by winding a reinforcement cord in a spiral shape, of uneven wear due to the spiral cord layer.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US20040108037A1  —  BOOZER MATTHEW  (2002, DEAD)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The use of high modulus at high stress cords in the second reinforcement plies allows the tire to flatten the transverse curvature at low and moderate speeds, improving wear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Deep Dive — How Nylon-Aramid Patents Solve Wear</a:t>
            </a:r>
          </a:p>
        </p:txBody>
      </p:sp>
      <p:pic>
        <p:nvPicPr>
          <p:cNvPr id="4" name="Picture 3" descr="deck_sol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6035040" cy="32279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46304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Researchers rarely chase abrasion resistance directly.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The strategy: make the contact patch uniform &amp; dimensionally stable.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Aramid gives hoop stiffness → restrains crown growth → stable tread geometry → less slip/squirm wear.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But aramid's stiffness step itself causes uneven wear — so most IP is about placing &amp; grading that stiffness.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Five Recurring Engineering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1. Dual-modulus / core-sheath cord (51%) — low-mod core (nylon/rayon/PET) + high-mod aramid sheath; soft to build, stiff in service.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Goodyear EP2380755A2 (ALIVE): low-modulus core, 5–15 TPI, high-modulus outer filament.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2. Twist / cord-geometry tuning (64%) — twist, denier, filament count set where the modulus transition occurs.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3. Adhesion / dip engineering (61%) — epoxy pre-dip + RFL; less cord-rubber slip → less wear &amp; edge separation.</a:t>
            </a:r>
          </a:p>
          <a:p>
            <a:pPr>
              <a:spcAft>
                <a:spcPts val="500"/>
              </a:spcAft>
              <a:defRPr sz="1200">
                <a:solidFill>
                  <a:srgbClr val="555555"/>
                </a:solidFill>
              </a:defRPr>
            </a:pPr>
            <a:r>
              <a:t>   – Goodyear US20160288575A1: single-end-dipped (SED) cords, no calendering.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4. Zoned / two-layer overlay (46%) — different cord/density across tread width to equalise contact pressure (the uneven-wear fix).</a:t>
            </a:r>
          </a:p>
          <a:p>
            <a:pPr>
              <a:spcAft>
                <a:spcPts val="500"/>
              </a:spcAft>
              <a:defRPr sz="1400">
                <a:solidFill>
                  <a:srgbClr val="1F3B57"/>
                </a:solidFill>
              </a:defRPr>
            </a:pPr>
            <a:r>
              <a:t>• 5. Positioning vs. grooves &amp; geometry ratios (20%) — keep the stiffness step away from where wear initiates.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The Uneven-Wear Fix: Zoned Density (live 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Continental EP3912833A1 (ALIVE): centre PET at 120 EPDM + PA4.6 side sections at 130 EPDM.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Continental DE102016223304B4 (ALIVE): 3-section bandage, centre PA6.6 (470x2) + side sections for 'more uniform abrasion'.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Sumitomo JP2018184071A (ALIVE): centre low density (Ec) + shoulder high density (Em) → even stiffness across the tread.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Continental EP2048005B1 (ALIVE): tuned radius-to-width ratios so the stiffness discontinuity doesn't land at wear-initiation sites.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Implication: the defensible path is stiffness PLACEMENT (zoning / grading), not a harder cord — and Continental &amp; Sumitomo already hold live art here.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9260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3B57"/>
                </a:solidFill>
              </a:defRPr>
            </a:pPr>
            <a:r>
              <a:t>Takeaways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Wear/mileage is a SECONDARY, indirect benefit of hybrid zero-degree cords — led by stiffness and footprint control.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For Nylon-Aramid specifically, manage the uneven-wear risk: the stiffness step at the cap-ply edge / over the reinforcing layer drives irregular wear.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Design levers in the IP: dual-modulus cord, twist tuning, adhesion/dip, zoned/two-layer bandage, positioning vs. grooves.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White space is narrow: zoned-density / modulus-grading is the proven path but Continental &amp; Sumitomo hold live art — check freedom-to-operate.</a:t>
            </a:r>
          </a:p>
          <a:p>
            <a:pPr>
              <a:spcAft>
                <a:spcPts val="500"/>
              </a:spcAft>
              <a:defRPr sz="1500">
                <a:solidFill>
                  <a:srgbClr val="1F3B57"/>
                </a:solidFill>
              </a:defRPr>
            </a:pPr>
            <a:r>
              <a:t>• Next: tighten the Nylon-Aramid set to explicit co-twisted constructions; add rolling-resistance and high-speed-durability axes.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