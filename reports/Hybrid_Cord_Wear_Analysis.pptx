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B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Hybrid Cord Patents — Wear Analysis</a:t>
            </a:r>
          </a:p>
          <a:p>
            <a:pPr>
              <a:defRPr sz="1800">
                <a:solidFill>
                  <a:srgbClr val="BFD3E6"/>
                </a:solidFill>
              </a:defRPr>
            </a:pPr>
            <a:r>
              <a:t>Zero-degree belt cords in PCR tires · General hybrid vs. Nylon-Aramid · 1080 PCR patents (audited, motorcycle-excluded)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3B57"/>
                </a:solidFill>
              </a:defRPr>
            </a:pPr>
            <a:r>
              <a:t>Scope &amp;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PatSeer zero-degree landscape, screened to 1080 passenger-car-radial (PCR) patents — primary motorcycle tires excluded.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Two hybrid-cord cohorts, defined by EXPLICIT hybrid-cord construction (not mere material co-occurrence):</a:t>
            </a:r>
          </a:p>
          <a:p>
            <a:pPr>
              <a:spcAft>
                <a:spcPts val="500"/>
              </a:spcAft>
              <a:defRPr sz="1300">
                <a:solidFill>
                  <a:srgbClr val="555555"/>
                </a:solidFill>
              </a:defRPr>
            </a:pPr>
            <a:r>
              <a:t>    – General hybrid cords: 156 patents</a:t>
            </a:r>
          </a:p>
          <a:p>
            <a:pPr>
              <a:spcAft>
                <a:spcPts val="500"/>
              </a:spcAft>
              <a:defRPr sz="1300">
                <a:solidFill>
                  <a:srgbClr val="555555"/>
                </a:solidFill>
              </a:defRPr>
            </a:pPr>
            <a:r>
              <a:t>    – Nylon-Aramid cords (focus): 100 patents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Wear detection over title/abstract/claims/description + PatSeer AI summaries; 'mileage' is rarely named — this is predominantly a treadwear analysis.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Theme tagging: BENEFIT (wear resistance/mileage) vs. DEFENSIVE (fixing uneven wear). See Limitations slide for caveats.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3B57"/>
                </a:solidFill>
              </a:defRPr>
            </a:pPr>
            <a:r>
              <a:t>Headline Finding</a:t>
            </a:r>
          </a:p>
        </p:txBody>
      </p:sp>
      <p:pic>
        <p:nvPicPr>
          <p:cNvPr id="4" name="Picture 3" descr="deck_coh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63040"/>
            <a:ext cx="5577840" cy="29299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General hybrid: 54 of 156 (35%) make a wear claim.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Nylon-Aramid: 31 of 100 (31%) make a wear claim.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Wear is a SECONDARY, indirect benefit — driven by crown stiffness &amp; footprint uniformity, not abrasion chemistry.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Nylon-Aramid-specific wear evidence is thin (31 patents) — interpret with care.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3B57"/>
                </a:solidFill>
              </a:defRPr>
            </a:pPr>
            <a:r>
              <a:t>Wear Posture — Benefit vs. Fixing Uneven Wear</a:t>
            </a:r>
          </a:p>
        </p:txBody>
      </p:sp>
      <p:pic>
        <p:nvPicPr>
          <p:cNvPr id="4" name="Picture 3" descr="deck_the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680960" cy="3104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463040"/>
            <a:ext cx="3474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Each bar = 100% of that cohort's wear patents.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Nylon-Aramid: 6 defensive-only vs 5 'both'.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General hybrid: 29 benefit-only leads.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Stiff aramid helps footprint uniformity but its stiffness step can trigger uneven wear that must be engineered 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3B57"/>
                </a:solidFill>
              </a:defRPr>
            </a:pPr>
            <a:r>
              <a:t>How Nylon-Aramid Tackles Wear (vs. baseline)</a:t>
            </a:r>
          </a:p>
        </p:txBody>
      </p:sp>
      <p:pic>
        <p:nvPicPr>
          <p:cNvPr id="4" name="Picture 3" descr="deck_sol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325880"/>
            <a:ext cx="6126480" cy="32709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Compared to all PCR patents, Nylon-Aramid is distinctive in the CORD itself: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 – Core-sheath / wrap construction (2.0x)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 – Graded / dual-modulus cord (1.9x)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 – Twist / cord-geometry tuning (1.8x)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Adhesion/dip, two-layer and ZONED density are NOT distinctive to Nylon-Aramid (~1x) — zoned density is a PET/PA story (next slide).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3B57"/>
                </a:solidFill>
              </a:defRPr>
            </a:pPr>
            <a:r>
              <a:t>Representative Nylon-Aramid Patents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3385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WO2018230265A1 — BRIDGESTONE CORP (2017, DEAD)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 – The present invention addresses the problem of suppressing the occurrence, in a tire having a spiral cord layer formed by winding a reinforcement cord in a spiral shape, of uneven wear due to the spiral cord layer.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US20040108037A1 — BOOZER MATTHEW (2002, DEAD)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 – The use of high modulus at high stress cords in the second reinforcement plies allows the tire to flatten the transverse curvature at low and moderate speeds, improving wear performance.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JP2001163005A — BRIDGESTONE CORP (1999, DEAD)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 – The spiral-wound structure of the fiber cord enhances circumferential rigidity and vibration suppression, leading to improved tire contact properties and wear resistance.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WO2019116766A1 — BRIDGESTONE CORP (2017, DEAD)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 – METHOD USED</a:t>
            </a:r>
            <a:br/>
            <a:r>
              <a:t>The invention proposes a hybrid reinforcing member that uses a carbon fiber core and a non-metallic fiber sheath.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WO2015137901A1 — KORDSA GLOBAL ENDUSTRIYEL  (2014, DEAD)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 – METHOD USED</a:t>
            </a:r>
            <a:br/>
            <a:r>
              <a:t>The hybrid cap ply reinforcement layer is constructed by twisting polyethylene terephthalate (PET) and nylon 6.6 multifilament yarns in a specific Z or S direction.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EP2806057A2 — THE GOODYEAR TIRE &amp; RUBBER (2013, ALIVE)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 – A hybrid cord having a Nylon core yarn (32) and an Aramid wrap yarn (34) wrapped around the Nylon core yarn (32) is disclosed.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3B57"/>
                </a:solidFill>
              </a:defRPr>
            </a:pPr>
            <a:r>
              <a:t>Related Lever: Zoned Density is PET/PA — not Nylon-Aramid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Zoned-density bandages (different cord/density centre vs. shoulder) are a real uneven-wear fix — but in PET/PA hybrids, not Nylon-Aramid.</a:t>
            </a:r>
          </a:p>
          <a:p>
            <a:pPr>
              <a:spcAft>
                <a:spcPts val="500"/>
              </a:spcAft>
              <a:defRPr sz="1300">
                <a:solidFill>
                  <a:srgbClr val="555555"/>
                </a:solidFill>
              </a:defRPr>
            </a:pPr>
            <a:r>
              <a:t>    – Continental EP3912833A1 (ALIVE): centre PET 120 EPDM + PA4.6 side sections 130 EPDM.</a:t>
            </a:r>
          </a:p>
          <a:p>
            <a:pPr>
              <a:spcAft>
                <a:spcPts val="500"/>
              </a:spcAft>
              <a:defRPr sz="1300">
                <a:solidFill>
                  <a:srgbClr val="555555"/>
                </a:solidFill>
              </a:defRPr>
            </a:pPr>
            <a:r>
              <a:t>    – Continental DE102016223304B4 (ALIVE): 3-section bandage, centre PA6.6 (470x2) for 'more uniform abrasion'.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In the Nylon-Aramid cohort zoned density appears in only ~3% (1.3x) — it is NOT the Nylon-Aramid wear lever.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Takeaway: do not attribute the zoned-density wear story to Nylon-Aramid cords.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3B57"/>
                </a:solidFill>
              </a:defRPr>
            </a:pPr>
            <a:r>
              <a:t>Who Owns the Nylon-Aramid IP</a:t>
            </a:r>
          </a:p>
        </p:txBody>
      </p:sp>
      <p:pic>
        <p:nvPicPr>
          <p:cNvPr id="4" name="Picture 3" descr="deck_assigne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943600" cy="312203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55448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Japanese OEMs (Bridgestone, Sumitomo, Yokohama) plus Goodyear, Michelin, Continental.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Cord makers (Kordsa, Hyosung) appear in the construction patents.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Most Nylon-Aramid wear patents are legally DEAD — limited live art on the wear angle specifically.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3B57"/>
                </a:solidFill>
              </a:defRPr>
            </a:pPr>
            <a:r>
              <a:t>Limitations &amp; Methodology (read before citing)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Cohorts are text-mined (PatSeer fields + AI summaries) with high recall; spot-check before quoting individual patents.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'Nylon-Aramid' = explicit aramid+nylon hybrid-cord construction. A looser co-occurrence rule inflated this ~3x (318 -&gt; 100); the strict figure is used here.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92 primary motorcycle tires were removed; some patents still mention motorcycle as a secondary application.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Solution percentages are multi-label and shown as ENRICHMENT vs. baseline to avoid overstating common vocabulary.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Wear is predominantly treadwear, not 'mileage' (named in only ~12 patents).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Corpus skews pre-2015; legal status reflects the export date.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3B57"/>
                </a:solidFill>
              </a:defRPr>
            </a:pPr>
            <a:r>
              <a:t>Takeaways &amp;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Wear/mileage is a secondary, indirect benefit of Nylon-Aramid zero-degree cords — via stiffness and footprint control.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The Nylon-Aramid wear lever is the CORD: core-sheath, dual-modulus, twist tuning — not zoned density (that is PET/PA).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Manage the uneven-wear risk created by the aramid stiffness step (defensive IP is a real share).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White space: Nylon-Aramid wear evidence is thin and mostly dead — opportunity, but validate FTO against live PET/PA zoned-density art.</a:t>
            </a:r>
          </a:p>
          <a:p>
            <a:pPr>
              <a:spcAft>
                <a:spcPts val="500"/>
              </a:spcAft>
              <a:defRPr sz="1500">
                <a:solidFill>
                  <a:srgbClr val="1F3B57"/>
                </a:solidFill>
              </a:defRPr>
            </a:pPr>
            <a:r>
              <a:t>• Next: pull full claims for the strict Nylon-Aramid set; add rolling-resistance and high-speed-durability axes.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